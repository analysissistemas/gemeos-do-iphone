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62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dizendo: o sistema tem dois lados — o que o cliente vê e o que só a equipe vê. Os dois se alimentam do mesmo cadastro.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 forte de venda: o custo e o lucro não existem dentro do arquivo do cliente. Não é só esconder na tela — quem abrir o código-fonte não acha.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por que peça única: um iPhone 13 com 87% de bateria e outro com 100% não valem o mesmo. Contar por quantidade esconde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no item 1: é o que resolve o problema das fotos de vez e não depende de ninguém de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377440" y="-2194560"/>
            <a:ext cx="7406640" cy="7406640"/>
          </a:xfrm>
          <a:prstGeom prst="ellipse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34440"/>
            <a:ext cx="2743200" cy="8961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468880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 dirty="0">
                <a:solidFill>
                  <a:srgbClr val="F5F5F7"/>
                </a:solidFill>
                <a:latin typeface="+mj-lt"/>
              </a:rPr>
              <a:t>O </a:t>
            </a:r>
            <a:r>
              <a:rPr sz="4400" b="1" i="0" dirty="0" err="1">
                <a:solidFill>
                  <a:srgbClr val="F5F5F7"/>
                </a:solidFill>
                <a:latin typeface="+mj-lt"/>
              </a:rPr>
              <a:t>sistema</a:t>
            </a:r>
            <a:r>
              <a:rPr sz="4400" b="1" i="0" dirty="0">
                <a:solidFill>
                  <a:srgbClr val="F5F5F7"/>
                </a:solidFill>
                <a:latin typeface="+mj-lt"/>
              </a:rPr>
              <a:t> da </a:t>
            </a:r>
            <a:r>
              <a:rPr sz="4400" b="1" i="0" dirty="0" err="1">
                <a:solidFill>
                  <a:srgbClr val="F5F5F7"/>
                </a:solidFill>
                <a:latin typeface="+mj-lt"/>
              </a:rPr>
              <a:t>loja</a:t>
            </a:r>
            <a:r>
              <a:rPr sz="4400" b="1" i="0" dirty="0">
                <a:solidFill>
                  <a:srgbClr val="F5F5F7"/>
                </a:solidFill>
                <a:latin typeface="+mj-lt"/>
              </a:rPr>
              <a:t>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82112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 dirty="0">
                <a:solidFill>
                  <a:srgbClr val="8E8E93"/>
                </a:solidFill>
                <a:latin typeface="+mj-lt"/>
              </a:rPr>
              <a:t>de </a:t>
            </a:r>
            <a:r>
              <a:rPr sz="4400" b="1" i="0" dirty="0" err="1">
                <a:solidFill>
                  <a:srgbClr val="8E8E93"/>
                </a:solidFill>
                <a:latin typeface="+mj-lt"/>
              </a:rPr>
              <a:t>ponta</a:t>
            </a:r>
            <a:r>
              <a:rPr sz="4400" b="1" i="0" dirty="0">
                <a:solidFill>
                  <a:srgbClr val="8E8E93"/>
                </a:solidFill>
                <a:latin typeface="+mj-lt"/>
              </a:rPr>
              <a:t> a </a:t>
            </a:r>
            <a:r>
              <a:rPr sz="4400" b="1" i="0" dirty="0" err="1">
                <a:solidFill>
                  <a:srgbClr val="8E8E93"/>
                </a:solidFill>
                <a:latin typeface="+mj-lt"/>
              </a:rPr>
              <a:t>ponta</a:t>
            </a:r>
            <a:r>
              <a:rPr sz="4400" b="1" i="0" dirty="0">
                <a:solidFill>
                  <a:srgbClr val="8E8E93"/>
                </a:solidFill>
                <a:latin typeface="+mj-l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406908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 dirty="0">
                <a:solidFill>
                  <a:srgbClr val="A1A1A6"/>
                </a:solidFill>
                <a:latin typeface="Calibri"/>
              </a:rPr>
              <a:t>Da vitrine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o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cliente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vê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ao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controle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só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a equipe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enxerga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.</a:t>
            </a:r>
          </a:p>
          <a:p>
            <a:pPr algn="ctr">
              <a:lnSpc>
                <a:spcPct val="140000"/>
              </a:lnSpc>
            </a:pPr>
            <a:r>
              <a:rPr sz="1400" b="0" i="0" dirty="0">
                <a:solidFill>
                  <a:srgbClr val="A1A1A6"/>
                </a:solidFill>
                <a:latin typeface="Calibri"/>
              </a:rPr>
              <a:t>Estoque,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vendas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assistência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técnica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caixa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um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lugar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A1A1A6"/>
                </a:solidFill>
                <a:latin typeface="Calibri"/>
              </a:rPr>
              <a:t>só</a:t>
            </a:r>
            <a:r>
              <a:rPr sz="1400" b="0" i="0" dirty="0">
                <a:solidFill>
                  <a:srgbClr val="A1A1A6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5029200"/>
            <a:ext cx="3474720" cy="384048"/>
          </a:xfrm>
          <a:prstGeom prst="roundRect">
            <a:avLst>
              <a:gd name="adj" fmla="val 4000"/>
            </a:avLst>
          </a:prstGeom>
          <a:solidFill>
            <a:srgbClr val="0B0B0C"/>
          </a:solidFill>
          <a:ln w="9525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51206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 spc="140">
                <a:solidFill>
                  <a:srgbClr val="A1A1A6"/>
                </a:solidFill>
                <a:latin typeface="Calibri"/>
              </a:rPr>
              <a:t>CARPINA · GOIANA — PERNAMBUCO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4A4A52"/>
                </a:solidFill>
                <a:latin typeface="Calibri"/>
              </a:rPr>
              <a:t>Apresentação · 15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A1A1A6"/>
                </a:solidFill>
                <a:latin typeface="Calibri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 dirty="0" err="1">
                <a:solidFill>
                  <a:srgbClr val="F5F5F7"/>
                </a:solidFill>
                <a:latin typeface="Cambria"/>
              </a:rPr>
              <a:t>Dois</a:t>
            </a:r>
            <a:r>
              <a:rPr sz="3400" b="1" i="0" dirty="0">
                <a:solidFill>
                  <a:srgbClr val="F5F5F7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5F5F7"/>
                </a:solidFill>
                <a:latin typeface="Cambria"/>
              </a:rPr>
              <a:t>lados</a:t>
            </a:r>
            <a:r>
              <a:rPr sz="3400" b="1" i="0" dirty="0">
                <a:solidFill>
                  <a:srgbClr val="F5F5F7"/>
                </a:solidFill>
                <a:latin typeface="Cambria"/>
              </a:rPr>
              <a:t>, um </a:t>
            </a:r>
            <a:r>
              <a:rPr sz="3400" b="1" i="0" dirty="0" err="1">
                <a:solidFill>
                  <a:srgbClr val="F5F5F7"/>
                </a:solidFill>
                <a:latin typeface="Cambria"/>
              </a:rPr>
              <a:t>cadastro</a:t>
            </a:r>
            <a:r>
              <a:rPr sz="3400" b="1" i="0" dirty="0">
                <a:solidFill>
                  <a:srgbClr val="F5F5F7"/>
                </a:solidFill>
                <a:latin typeface="Cambria"/>
              </a:rPr>
              <a:t> </a:t>
            </a:r>
            <a:r>
              <a:rPr sz="3400" b="1" i="0" dirty="0" err="1">
                <a:solidFill>
                  <a:srgbClr val="F5F5F7"/>
                </a:solidFill>
                <a:latin typeface="Cambria"/>
              </a:rPr>
              <a:t>só</a:t>
            </a:r>
            <a:r>
              <a:rPr sz="3400" b="1" i="0" dirty="0">
                <a:solidFill>
                  <a:srgbClr val="F5F5F7"/>
                </a:solidFill>
                <a:latin typeface="Cambr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1A1A6"/>
                </a:solidFill>
                <a:latin typeface="Calibri"/>
              </a:rPr>
              <a:t>Você dá entrada no aparelho uma vez. Ele aparece na loja para o cliente e no controle para a equipe — sem digitar nada duas vezes.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95728"/>
            <a:ext cx="5285232" cy="36118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7004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 spc="180">
                <a:solidFill>
                  <a:srgbClr val="25D366"/>
                </a:solidFill>
                <a:latin typeface="Calibri"/>
              </a:rPr>
              <a:t>O CLIENTE VÊ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  <a:latin typeface="Cambria"/>
              </a:rPr>
              <a:t>A loja</a:t>
            </a:r>
          </a:p>
        </p:txBody>
      </p:sp>
      <p:sp>
        <p:nvSpPr>
          <p:cNvPr id="8" name="Oval 7"/>
          <p:cNvSpPr/>
          <p:nvPr/>
        </p:nvSpPr>
        <p:spPr>
          <a:xfrm>
            <a:off x="1024127" y="3557015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3493008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Foto do aparelho, que troca ao escolher a cor</a:t>
            </a:r>
          </a:p>
        </p:txBody>
      </p:sp>
      <p:sp>
        <p:nvSpPr>
          <p:cNvPr id="10" name="Oval 9"/>
          <p:cNvSpPr/>
          <p:nvPr/>
        </p:nvSpPr>
        <p:spPr>
          <a:xfrm>
            <a:off x="1024127" y="3941064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7" y="38770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Memória, condição e saúde da bateria</a:t>
            </a:r>
          </a:p>
        </p:txBody>
      </p:sp>
      <p:sp>
        <p:nvSpPr>
          <p:cNvPr id="12" name="Oval 11"/>
          <p:cNvSpPr/>
          <p:nvPr/>
        </p:nvSpPr>
        <p:spPr>
          <a:xfrm>
            <a:off x="1024127" y="4325112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7" y="4261104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Avarias declaradas abertamente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7" y="4709160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7" y="4645152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Preço e parcela em até 18x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7" y="5093208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7" y="5029200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Botão que abre o WhatsApp com a mensagem pronta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76767E"/>
                </a:solidFill>
                <a:latin typeface="Calibri"/>
              </a:rPr>
              <a:t>Não vê: quanto você pagou, sua margem, nem o lucro.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95728"/>
            <a:ext cx="5285232" cy="361188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67004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 spc="180">
                <a:solidFill>
                  <a:srgbClr val="F5F5F7"/>
                </a:solidFill>
                <a:latin typeface="Calibri"/>
              </a:rPr>
              <a:t>A EQUIPE VÊ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260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5F5F7"/>
                </a:solidFill>
                <a:latin typeface="Cambria"/>
              </a:rPr>
              <a:t>O sistema</a:t>
            </a:r>
          </a:p>
        </p:txBody>
      </p:sp>
      <p:sp>
        <p:nvSpPr>
          <p:cNvPr id="22" name="Oval 21"/>
          <p:cNvSpPr/>
          <p:nvPr/>
        </p:nvSpPr>
        <p:spPr>
          <a:xfrm>
            <a:off x="6647688" y="3557015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3493008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Custo, preço de venda, margem e lucro por peça</a:t>
            </a:r>
          </a:p>
        </p:txBody>
      </p:sp>
      <p:sp>
        <p:nvSpPr>
          <p:cNvPr id="24" name="Oval 23"/>
          <p:cNvSpPr/>
          <p:nvPr/>
        </p:nvSpPr>
        <p:spPr>
          <a:xfrm>
            <a:off x="6647688" y="3941064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3877056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IMEI, bateria e avarias de cada aparelho</a:t>
            </a:r>
          </a:p>
        </p:txBody>
      </p:sp>
      <p:sp>
        <p:nvSpPr>
          <p:cNvPr id="26" name="Oval 25"/>
          <p:cNvSpPr/>
          <p:nvPr/>
        </p:nvSpPr>
        <p:spPr>
          <a:xfrm>
            <a:off x="6647688" y="4325112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4261104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Funil de vendas com cada negócio em aberto</a:t>
            </a:r>
          </a:p>
        </p:txBody>
      </p:sp>
      <p:sp>
        <p:nvSpPr>
          <p:cNvPr id="28" name="Oval 27"/>
          <p:cNvSpPr/>
          <p:nvPr/>
        </p:nvSpPr>
        <p:spPr>
          <a:xfrm>
            <a:off x="6647688" y="4709160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0568" y="4645152"/>
            <a:ext cx="4434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>
                <a:solidFill>
                  <a:srgbClr val="A1A1A6"/>
                </a:solidFill>
                <a:latin typeface="Calibri"/>
              </a:rPr>
              <a:t>Ordens de serviço da assistência técnica</a:t>
            </a:r>
          </a:p>
        </p:txBody>
      </p:sp>
      <p:sp>
        <p:nvSpPr>
          <p:cNvPr id="30" name="Oval 29"/>
          <p:cNvSpPr/>
          <p:nvPr/>
        </p:nvSpPr>
        <p:spPr>
          <a:xfrm>
            <a:off x="6647688" y="5093208"/>
            <a:ext cx="64008" cy="6400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0568" y="5029200"/>
            <a:ext cx="443484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 dirty="0">
                <a:solidFill>
                  <a:srgbClr val="A1A1A6"/>
                </a:solidFill>
                <a:latin typeface="Calibri"/>
              </a:rPr>
              <a:t>Caixa: </a:t>
            </a:r>
            <a:r>
              <a:rPr sz="1150" b="0" i="0" dirty="0" err="1">
                <a:solidFill>
                  <a:srgbClr val="A1A1A6"/>
                </a:solidFill>
                <a:latin typeface="Calibri"/>
              </a:rPr>
              <a:t>recebido</a:t>
            </a:r>
            <a:r>
              <a:rPr sz="1150" b="0" i="0" dirty="0">
                <a:solidFill>
                  <a:srgbClr val="A1A1A6"/>
                </a:solidFill>
                <a:latin typeface="Calibri"/>
              </a:rPr>
              <a:t>, a </a:t>
            </a:r>
            <a:r>
              <a:rPr sz="1150" b="0" i="0" dirty="0" err="1">
                <a:solidFill>
                  <a:srgbClr val="A1A1A6"/>
                </a:solidFill>
                <a:latin typeface="Calibri"/>
              </a:rPr>
              <a:t>receber</a:t>
            </a:r>
            <a:endParaRPr sz="1150" b="0" i="0" dirty="0">
              <a:solidFill>
                <a:srgbClr val="A1A1A6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5440680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76767E"/>
                </a:solidFill>
                <a:latin typeface="Calibri"/>
              </a:rPr>
              <a:t>Protegido por login, com acesso separado por pessoa.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52"/>
                </a:solidFill>
                <a:latin typeface="Calibri"/>
              </a:rPr>
              <a:t>Gêmeos do iPhone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4A4A5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A1A1A6"/>
                </a:solidFill>
                <a:latin typeface="Calibri"/>
              </a:rPr>
              <a:t>PARTE DO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5F5F7"/>
                </a:solidFill>
                <a:latin typeface="Cambria"/>
              </a:rPr>
              <a:t>A loja aberta 24 horas.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1A1A6"/>
                </a:solidFill>
                <a:latin typeface="Calibri"/>
              </a:rPr>
              <a:t>O cliente entra pelo link, vê o estoque real e chama no WhatsApp já sabendo o que quer.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6766560" cy="341985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loja-to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675120" cy="33284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35240" y="2377440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2359152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Identidade da loja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24328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Logo, cores e a frase da casa: "Pra tudo tem solução".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3319272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3300984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Vídeo de fundo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566160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Abre com movimento, como as grandes lojas de tecnologia.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4261104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242816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Funciona no celular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507992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A maioria dos clientes vai abrir pelo telefone.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5202936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5184648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WhatsApp sempre à mão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449824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Botão fixo na tela, em qualquer página.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52"/>
                </a:solidFill>
                <a:latin typeface="Calibri"/>
              </a:rPr>
              <a:t>Gêmeos do iPhone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4A4A5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5B6472"/>
                </a:solidFill>
                <a:latin typeface="Calibri"/>
              </a:rPr>
              <a:t>PARTE DO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101828"/>
                </a:solidFill>
                <a:latin typeface="Cambria"/>
              </a:rPr>
              <a:t>Catálogo que responde sozinho.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Seis categorias — iPhone, iPad, Apple Watch, MacBook, acessórios e motos elétricas — com busca por modelo, cor ou memória.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6766560" cy="3419856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-cata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675120" cy="33284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35240" y="2377440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2359152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Escolhe a cor, a foto muda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24328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Cores reais de cada geração, com a foto oficial do aparelho.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3319272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3300984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Bateria e avarias à mostra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566160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O que os outros escondem, aqui está escrito no anúncio.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4261104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242816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Preço e parcela na 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507992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Valor à vista e em 18x, sem o cliente precisar perguntar.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5202936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5184648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Mensagem pronta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449824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Chega com modelo, cor, memória, bateria e preço.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8A2B3"/>
                </a:solidFill>
                <a:latin typeface="Calibri"/>
              </a:rPr>
              <a:t>Gêmeos do iPhone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A1A1A6"/>
                </a:solidFill>
                <a:latin typeface="Calibri"/>
              </a:rPr>
              <a:t>PARTE DA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5F5F7"/>
                </a:solidFill>
                <a:latin typeface="Cambria"/>
              </a:rPr>
              <a:t>Cada aparelho é uma peça única.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1A1A6"/>
                </a:solidFill>
                <a:latin typeface="Calibri"/>
              </a:rPr>
              <a:t>Bateria e avaria são daquele aparelho, não do modelo. Por isso o controle é peça por peça, com IMEI — nunca por quantidade.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6766560" cy="341985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-estoq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6675120" cy="33284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35240" y="2377440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2359152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Lucro por aparelho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24328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Custo, venda e lucro lado a lado, na mesma linha.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3319272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3300984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Preço sugerido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566160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Calculado pela condição, bateria e avarias — mostrando a conta.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4261104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242816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Filtros que importam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507992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Com avaria, bateria baixa, lacrado, seminovo, vitrine.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5202936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5184648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Cadastro em segundos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449824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Escolhido o modelo, só oferece memórias e cores que existem.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52"/>
                </a:solidFill>
                <a:latin typeface="Calibri"/>
              </a:rPr>
              <a:t>Gêmeos do iPhone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4A4A5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5B6472"/>
                </a:solidFill>
                <a:latin typeface="Calibri"/>
              </a:rPr>
              <a:t>PARTE DA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101828"/>
                </a:solidFill>
                <a:latin typeface="Cambria"/>
              </a:rPr>
              <a:t>Nenhuma venda esquecida.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Cada conversa vira um cartão, da primeira mensagem até o fechamento — e dá para ver quanto dinheiro está em jogo agora.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6766560" cy="3419856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-fun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675120" cy="33284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35240" y="2377440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2359152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Cinco etapas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24328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Chegou no WhatsApp, qualificado, proposta, troca, fechada.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3319272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3300984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Conversão por etapa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566160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Mostra onde o cliente desiste, para atacar o ponto certo.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4261104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242816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Valor em jogo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507992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Quanto está parado no funil, em reais, agora.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5202936"/>
            <a:ext cx="310896" cy="310896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5184648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Alerta de parado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449824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Negócio sem resposta há mais de 7 dias aparece na Visão Geral.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8A2B3"/>
                </a:solidFill>
                <a:latin typeface="Calibri"/>
              </a:rPr>
              <a:t>Gêmeos do iPhone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A1A1A6"/>
                </a:solidFill>
                <a:latin typeface="Calibri"/>
              </a:rPr>
              <a:t>PARTE DA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5F5F7"/>
                </a:solidFill>
                <a:latin typeface="Cambria"/>
              </a:rPr>
              <a:t>A bancada sob controle.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1A1A6"/>
                </a:solidFill>
                <a:latin typeface="Calibri"/>
              </a:rPr>
              <a:t>Toda ordem de serviço, da entrada até a entrega, com prazo e técnico responsável — e a nota do cliente sai pronta para imprimir.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6766560" cy="341985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-assistenc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675120" cy="33284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635240" y="2377440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2359152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Seis etapas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24328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Recebido, orçamento, aprovado, bancada, aguardando peça, pronto.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3319272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3300984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Aparelho parado aparece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566160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Quem está esperando peça, e há quantos dias.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4261104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4242816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Nota com garantia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4507992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Defeito, valor, prazo de garantia e as duas assinaturas.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5202936"/>
            <a:ext cx="310896" cy="310896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0B0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5184648"/>
            <a:ext cx="34930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5F5F7"/>
                </a:solidFill>
                <a:latin typeface="Calibri"/>
              </a:rPr>
              <a:t>Quanto vai entrar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449824"/>
            <a:ext cx="349300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1A1A6"/>
                </a:solidFill>
                <a:latin typeface="Calibri"/>
              </a:rPr>
              <a:t>Soma dos orçamentos aprovados que ainda serão recebidos.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52"/>
                </a:solidFill>
                <a:latin typeface="Calibri"/>
              </a:rPr>
              <a:t>Gêmeos do iPhone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4A4A5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5B6472"/>
                </a:solidFill>
                <a:latin typeface="Calibri"/>
              </a:rPr>
              <a:t>ONDE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101828"/>
                </a:solidFill>
                <a:latin typeface="Cambria"/>
              </a:rPr>
              <a:t>O que já está de pé.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Tudo abaixo funciona hoje e pode ser aberto agora, no celular de qualquer pessoa da equipe.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3310128" cy="16916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26700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101828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511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telas prontas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7581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entre a loja e o sistema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514600"/>
            <a:ext cx="3310128" cy="16916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26700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101828"/>
                </a:solidFill>
                <a:latin typeface="Cambr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3511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categorias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37581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no catálogo do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2514600"/>
            <a:ext cx="3310128" cy="16916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26700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101828"/>
                </a:solidFill>
                <a:latin typeface="Cambria"/>
              </a:rPr>
              <a:t>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5112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Calibri"/>
              </a:rPr>
              <a:t>fotos oficiais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7581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de produto, uma por cor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10881360" cy="1261872"/>
          </a:xfrm>
          <a:prstGeom prst="roundRect">
            <a:avLst>
              <a:gd name="adj" fmla="val 4000"/>
            </a:avLst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736592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25D366"/>
                </a:solidFill>
                <a:latin typeface="Calibri"/>
              </a:rPr>
              <a:t>A vantagem que nenhum concorrente da região 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047488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A1A1A6"/>
                </a:solidFill>
                <a:latin typeface="Calibri"/>
              </a:rPr>
              <a:t>Loja de seminovo vive de confiança. O sistema publica a saúde da bateria e as avarias de cada aparelho no próprio anúncio — o cliente vê o estado real antes de perguntar. Quem esconde não consegue competir com isso.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8A2B3"/>
                </a:solidFill>
                <a:latin typeface="Calibri"/>
              </a:rPr>
              <a:t>Gêmeos do iPhone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20">
                <a:solidFill>
                  <a:srgbClr val="A1A1A6"/>
                </a:solidFill>
                <a:latin typeface="Calibri"/>
              </a:rPr>
              <a:t>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F5F5F7"/>
                </a:solidFill>
                <a:latin typeface="Cambria"/>
              </a:rPr>
              <a:t>Próximos passos.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A1A1A6"/>
                </a:solidFill>
                <a:latin typeface="Calibri"/>
              </a:rPr>
              <a:t>Em ordem de impacto: cada um destrava o seguinte.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881360" cy="85953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642616"/>
            <a:ext cx="329184" cy="32918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5381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328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Calibri"/>
              </a:rPr>
              <a:t>Foto pelo celular, no cadastro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16352"/>
            <a:ext cx="9601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Calibri"/>
              </a:rPr>
              <a:t>Fotografar o aparelho na entrada resolve todo modelo sem foto oficial — e mostra ao cliente a peça real que ele vai receber.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64992"/>
            <a:ext cx="10881360" cy="85953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3630168"/>
            <a:ext cx="329184" cy="32918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538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2044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Calibri"/>
              </a:rPr>
              <a:t>Guardar os dados de verdade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803904"/>
            <a:ext cx="9601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Calibri"/>
              </a:rPr>
              <a:t>Hoje o cadastro vive no navegador de cada máquina. Com servidor, passa a valer para toda a equipe ao mesmo tempo.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52544"/>
            <a:ext cx="10881360" cy="85953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4617720"/>
            <a:ext cx="329184" cy="32918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5381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07992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Calibri"/>
              </a:rPr>
              <a:t>Endereço próprio na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91456"/>
            <a:ext cx="9601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Calibri"/>
              </a:rPr>
              <a:t>Um gemeosdoiphone.com.br no lugar do link interno, para o cliente chegar de qualquer lugar.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0096"/>
            <a:ext cx="10881360" cy="859536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5605272"/>
            <a:ext cx="329184" cy="32918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5381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9554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F5F7"/>
                </a:solidFill>
                <a:latin typeface="Calibri"/>
              </a:rPr>
              <a:t>Integração com o WhatsApp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779008"/>
            <a:ext cx="9601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1A1A6"/>
                </a:solidFill>
                <a:latin typeface="Calibri"/>
              </a:rPr>
              <a:t>Conectar ao atendimento para o cliente sair da loja direto na conversa, já identificado.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4A4A52"/>
                </a:solidFill>
                <a:latin typeface="Calibri"/>
              </a:rPr>
              <a:t>Gêmeos do iPhone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4A4A5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1051</Words>
  <Application>Microsoft Office PowerPoint</Application>
  <PresentationFormat>Widescreen</PresentationFormat>
  <Paragraphs>149</Paragraphs>
  <Slides>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</dc:creator>
  <cp:keywords/>
  <dc:description>generated using python-pptx</dc:description>
  <cp:lastModifiedBy>John Phelipe do Nascimento Barros</cp:lastModifiedBy>
  <cp:revision>2</cp:revision>
  <dcterms:created xsi:type="dcterms:W3CDTF">2013-01-27T09:14:16Z</dcterms:created>
  <dcterms:modified xsi:type="dcterms:W3CDTF">2026-08-15T16:41:58Z</dcterms:modified>
  <cp:category/>
</cp:coreProperties>
</file>